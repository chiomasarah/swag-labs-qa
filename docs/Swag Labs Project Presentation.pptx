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4685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44" y="-97654"/>
            <a:ext cx="9144000" cy="5143500"/>
          </a:xfrm>
          <a:prstGeom prst="rect">
            <a:avLst/>
          </a:prstGeom>
          <a:solidFill>
            <a:srgbClr val="0055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 LABS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B2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&amp; Automated QA Testing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731520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82880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B2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 Detective STFB | Accelerated Programme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B2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saucedemo.com  (Sauce Labs)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B2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TCs · 14 defects · 78% pass rate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B2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Cypress + Playwright · 49 tests each · 3 browsers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" y="361188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5124" y="39776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Software Engineer  |  QA Tester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" y="42976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B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June 11,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 |  The Bug Detective STFB | Accelerated Programme  |  saucedemo.com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4114800" cy="694944"/>
          </a:xfrm>
          <a:prstGeom prst="rect">
            <a:avLst/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68680"/>
            <a:ext cx="502920" cy="694944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784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9052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Overview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1216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 Labs — what it is and why it was chosen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709928"/>
            <a:ext cx="4114800" cy="694944"/>
          </a:xfrm>
          <a:prstGeom prst="rect">
            <a:avLst/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709928"/>
            <a:ext cx="502920" cy="694944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8196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" y="17465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Plan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2057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approach, techniques, and environment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51176"/>
            <a:ext cx="4114800" cy="694944"/>
          </a:xfrm>
          <a:prstGeom prst="rect">
            <a:avLst/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51176"/>
            <a:ext cx="502920" cy="694944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66090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25877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2898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test cases across 8 modules and 5 accounts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392424"/>
            <a:ext cx="4114800" cy="694944"/>
          </a:xfrm>
          <a:prstGeom prst="rect">
            <a:avLst/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392424"/>
            <a:ext cx="502920" cy="694944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5021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" y="3429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2688" y="37398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by module — 78% pass rate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868680"/>
            <a:ext cx="4114800" cy="694944"/>
          </a:xfrm>
          <a:prstGeom prst="rect">
            <a:avLst/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868680"/>
            <a:ext cx="502920" cy="694944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9784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21808" y="9052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Identified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21808" y="1216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defects across 4 account types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709928"/>
            <a:ext cx="4114800" cy="694944"/>
          </a:xfrm>
          <a:prstGeom prst="rect">
            <a:avLst/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1709928"/>
            <a:ext cx="502920" cy="694944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18196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21808" y="17465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Critical Issues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21808" y="2057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 on the most severe findings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2551176"/>
            <a:ext cx="4114800" cy="694944"/>
          </a:xfrm>
          <a:prstGeom prst="rect">
            <a:avLst/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2551176"/>
            <a:ext cx="502920" cy="694944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266090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21808" y="25877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Approach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21808" y="2898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Cypress + Playwright · browser coverage · test.skip rationale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392424"/>
            <a:ext cx="4114800" cy="694944"/>
          </a:xfrm>
          <a:prstGeom prst="rect">
            <a:avLst/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392424"/>
            <a:ext cx="502920" cy="694944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35021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21808" y="3429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Summary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21808" y="37398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Assessment, conclusions, and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 |  The Bug Detective STFB | Accelerated Programme  |  saucedemo.com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4114800" cy="2011680"/>
          </a:xfrm>
          <a:prstGeom prst="rect">
            <a:avLst/>
          </a:prstGeom>
          <a:solidFill>
            <a:srgbClr val="B2EBF2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869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Application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252728"/>
            <a:ext cx="3840480" cy="0"/>
          </a:xfrm>
          <a:prstGeom prst="line">
            <a:avLst/>
          </a:prstGeom>
          <a:noFill/>
          <a:ln w="19050">
            <a:solidFill>
              <a:srgbClr val="FFB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</a:t>
            </a: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Swag Labs (SauceDemo)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</a:t>
            </a: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Web-Based E-Commerce Demo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3969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</a:t>
            </a: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saucedemo.com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237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by:</a:t>
            </a: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Sauce Labs — for QA training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841248"/>
            <a:ext cx="4160520" cy="2011680"/>
          </a:xfrm>
          <a:prstGeom prst="rect">
            <a:avLst/>
          </a:prstGeom>
          <a:solidFill>
            <a:srgbClr val="F2F2F2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8869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 Chose 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252728"/>
            <a:ext cx="3840480" cy="0"/>
          </a:xfrm>
          <a:prstGeom prst="line">
            <a:avLst/>
          </a:prstGeom>
          <a:noFill/>
          <a:ln w="19050">
            <a:solidFill>
              <a:srgbClr val="FFB3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1408176"/>
            <a:ext cx="146304" cy="14630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e-commerce flows to test end-to-end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73168" y="1792224"/>
            <a:ext cx="146304" cy="14630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2624" y="17556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accounts with intentional defects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73168" y="2176272"/>
            <a:ext cx="146304" cy="14630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21396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functional, security &amp; performance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73168" y="2560320"/>
            <a:ext cx="146304" cy="14630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25237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 manual + automation capstone project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2999232"/>
            <a:ext cx="8503920" cy="155448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044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User Accounts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" y="3401568"/>
            <a:ext cx="1572768" cy="1078992"/>
          </a:xfrm>
          <a:prstGeom prst="rect">
            <a:avLst/>
          </a:prstGeom>
          <a:solidFill>
            <a:srgbClr val="00838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419856"/>
            <a:ext cx="1572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standard_user
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behaviour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features work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39112" y="3401568"/>
            <a:ext cx="1572768" cy="1078992"/>
          </a:xfrm>
          <a:prstGeom prst="rect">
            <a:avLst/>
          </a:prstGeom>
          <a:solidFill>
            <a:srgbClr val="55555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39112" y="3419856"/>
            <a:ext cx="1572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locked_out_user
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at login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access app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30752" y="3401568"/>
            <a:ext cx="1572768" cy="1078992"/>
          </a:xfrm>
          <a:prstGeom prst="rect">
            <a:avLst/>
          </a:prstGeom>
          <a:solidFill>
            <a:srgbClr val="C0000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30752" y="3419856"/>
            <a:ext cx="1572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problem_user
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Critical defects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no effect · Wrong images · Checkout bug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22392" y="3401568"/>
            <a:ext cx="1572768" cy="1078992"/>
          </a:xfrm>
          <a:prstGeom prst="rect">
            <a:avLst/>
          </a:prstGeom>
          <a:solidFill>
            <a:srgbClr val="E64A19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22392" y="3419856"/>
            <a:ext cx="1572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error_user
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High defects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alert · Cart limit · Checkout bug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14032" y="3401568"/>
            <a:ext cx="1572768" cy="1078992"/>
          </a:xfrm>
          <a:prstGeom prst="rect">
            <a:avLst/>
          </a:prstGeom>
          <a:solidFill>
            <a:srgbClr val="6D4C4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4032" y="3419856"/>
            <a:ext cx="1572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visual_user
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Medium defects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Unstable sort · Layout breaks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Plan Summary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 |  The Bug Detective STFB | Accelerated Programme  |  saucedemo.com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011680" cy="4572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201168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55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444752"/>
            <a:ext cx="146304" cy="146304"/>
          </a:xfrm>
          <a:prstGeom prst="ellipse">
            <a:avLst/>
          </a:prstGeom>
          <a:solidFill>
            <a:srgbClr val="00555A"/>
          </a:solidFill>
          <a:ln w="12700">
            <a:solidFill>
              <a:srgbClr val="005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38988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Logout, Products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157984"/>
            <a:ext cx="146304" cy="146304"/>
          </a:xfrm>
          <a:prstGeom prst="ellipse">
            <a:avLst/>
          </a:prstGeom>
          <a:solidFill>
            <a:srgbClr val="00555A"/>
          </a:solidFill>
          <a:ln w="12700">
            <a:solidFill>
              <a:srgbClr val="005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103120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Cart, Checkout, Navigation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871216"/>
            <a:ext cx="146304" cy="146304"/>
          </a:xfrm>
          <a:prstGeom prst="ellipse">
            <a:avLst/>
          </a:prstGeom>
          <a:solidFill>
            <a:srgbClr val="00555A"/>
          </a:solidFill>
          <a:ln w="12700">
            <a:solidFill>
              <a:srgbClr val="005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81635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&amp; Security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584448"/>
            <a:ext cx="146304" cy="146304"/>
          </a:xfrm>
          <a:prstGeom prst="ellipse">
            <a:avLst/>
          </a:prstGeom>
          <a:solidFill>
            <a:srgbClr val="00555A"/>
          </a:solidFill>
          <a:ln w="12700">
            <a:solidFill>
              <a:srgbClr val="0055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529584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user accounts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822960"/>
            <a:ext cx="2011680" cy="4572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9" name="Text 17"/>
          <p:cNvSpPr/>
          <p:nvPr/>
        </p:nvSpPr>
        <p:spPr>
          <a:xfrm>
            <a:off x="2450592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450592" y="1280160"/>
            <a:ext cx="201168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87752" y="1444752"/>
            <a:ext cx="146304" cy="14630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98064" y="138988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functional testing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87752" y="2157984"/>
            <a:ext cx="146304" cy="14630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98064" y="2103120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&amp; error testing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87752" y="2871216"/>
            <a:ext cx="146304" cy="14630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98064" y="281635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defect testing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87752" y="3584448"/>
            <a:ext cx="146304" cy="14630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98064" y="3529584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E2E (Cypress + Playwright)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26864" y="822960"/>
            <a:ext cx="201168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4626864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26864" y="1280160"/>
            <a:ext cx="201168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64024" y="1444752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138988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Equivalence partitioning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64024" y="2157984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2103120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value analysis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64024" y="2871216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74336" y="281635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guessing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64024" y="3584448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74336" y="3529584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Intentional failure testing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03136" y="822960"/>
            <a:ext cx="2011680" cy="4572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1" name="Text 39"/>
          <p:cNvSpPr/>
          <p:nvPr/>
        </p:nvSpPr>
        <p:spPr>
          <a:xfrm>
            <a:off x="6803136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Criteria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03136" y="1280160"/>
            <a:ext cx="201168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40296" y="1444752"/>
            <a:ext cx="146304" cy="14630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50608" y="138988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49 TCs executed 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40296" y="2157984"/>
            <a:ext cx="146304" cy="14630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50608" y="2103120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defects documented 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40296" y="2871216"/>
            <a:ext cx="146304" cy="14630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50608" y="281635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 pass rate achieved ✓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40296" y="3584448"/>
            <a:ext cx="146304" cy="14630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50608" y="3529584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49 TCs automated ✓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65760" y="459943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Design – 49 Test Cases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 |  The Bug Detective STFB | Accelerated Programme  |  saucedemo.com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379171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Accounts Covered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Types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accounts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Valid/invalid credentials, locked user, empty fields, case sensitivity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Logout flow, back-button security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Listing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standard_user, problem_user, error_user, visual_user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Display, images, sorting (4 options), per-account defects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standard_user, problem_user, error_user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Add/remove, badge persistence, cart limit defects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standard_user, problem_user, error_user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3-step flow, field validation, input binding bugs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Navigation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Items, About link, Reset App State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account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 expiration redirect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standard_user vs performance_glitch_user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 time comparison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 Results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 |  The Bug Detective STFB | Accelerated Programme  |  saucedemo.com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1572768" cy="109728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91440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" y="1517904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84248" y="822960"/>
            <a:ext cx="1572768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1984248" y="91440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84248" y="1517904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39896" y="822960"/>
            <a:ext cx="1572768" cy="10972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739896" y="91440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39896" y="1517904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95544" y="822960"/>
            <a:ext cx="1572768" cy="109728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7" name="Text 15"/>
          <p:cNvSpPr/>
          <p:nvPr/>
        </p:nvSpPr>
        <p:spPr>
          <a:xfrm>
            <a:off x="5495544" y="91440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95544" y="1517904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51192" y="822960"/>
            <a:ext cx="1572768" cy="109728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20" name="Text 18"/>
          <p:cNvSpPr/>
          <p:nvPr/>
        </p:nvSpPr>
        <p:spPr>
          <a:xfrm>
            <a:off x="7251192" y="91440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251192" y="1517904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57400"/>
          <a:ext cx="7680960" cy="26974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97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Listing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Navigation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Identified – 14 Total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 |  The Bug Detective STFB | Accelerated Programme  |  saucedemo.com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1938528" cy="11887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4124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problem_user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6367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Critical · 2 High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804672"/>
            <a:ext cx="1938528" cy="1188720"/>
          </a:xfrm>
          <a:prstGeom prst="rect">
            <a:avLst/>
          </a:prstGeom>
          <a:solidFill>
            <a:srgbClr val="E64A19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84124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50592" y="1371600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error_user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6367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High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804672"/>
            <a:ext cx="1938528" cy="1188720"/>
          </a:xfrm>
          <a:prstGeom prst="rect">
            <a:avLst/>
          </a:prstGeom>
          <a:solidFill>
            <a:srgbClr val="6D4C41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84124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26864" y="1371600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visual_user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26864" y="16367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High · 1 Medium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804672"/>
            <a:ext cx="1938528" cy="118872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20" name="Text 18"/>
          <p:cNvSpPr/>
          <p:nvPr/>
        </p:nvSpPr>
        <p:spPr>
          <a:xfrm>
            <a:off x="6803136" y="84124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03136" y="1371600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All/Any Users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03136" y="16367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Medium · 2 Low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76272"/>
          <a:ext cx="8595360" cy="252374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04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 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Listing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6 cards show same wrong image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Listing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 opens but does not sort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Name input overwrites First 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3 specific items can be added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Listing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 triggers browser alert: 'Sorting is broken!'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3 specific items can be added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Name field completely unresponsive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/ UX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 order unstable — changes each 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Critical Issues – problem_user Account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 |  The Bug Detective STFB | Accelerated Programme  |  saucedemo.com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1170432"/>
          </a:xfrm>
          <a:prstGeom prst="rect">
            <a:avLst/>
          </a:prstGeom>
          <a:solidFill>
            <a:srgbClr val="FFD7D7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04672"/>
            <a:ext cx="914400" cy="11704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84124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1280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61872" y="85039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Wrong Image on All 6 Product Cards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61872" y="115214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</a:t>
            </a: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card shows a dog with a ball — users cannot identify any product they are viewing or trying to buy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61872" y="144475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Image-product mapping not applied for problem_user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66544"/>
            <a:ext cx="8595360" cy="1170432"/>
          </a:xfrm>
          <a:prstGeom prst="rect">
            <a:avLst/>
          </a:prstGeom>
          <a:solidFill>
            <a:srgbClr val="FCE4D6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066544"/>
            <a:ext cx="914400" cy="11704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10312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4320" y="2542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61872" y="211226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Dropdown Opens But Does Not Sort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61872" y="241401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</a:t>
            </a: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dropdown opens and accepts selection but the product order does not change — sort is completely ineffective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61872" y="270662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Sort dropdown accepts selection but the sort function does not execute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328416"/>
            <a:ext cx="8595360" cy="1170432"/>
          </a:xfrm>
          <a:prstGeom prst="rect">
            <a:avLst/>
          </a:prstGeom>
          <a:solidFill>
            <a:srgbClr val="FFF9C4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28416"/>
            <a:ext cx="914400" cy="11704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36499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74320" y="38039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61872" y="337413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Name Input Overwrites First Name in Checkout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61872" y="367588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</a:t>
            </a: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Typing in Last Name replaces First Name value — Last Name stays empty. Checkout cannot proceed past Step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61872" y="396849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Classic input binding bug — both fields share the same state variable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26479"/>
            <a:ext cx="9144000" cy="342900"/>
          </a:xfrm>
          <a:prstGeom prst="rect">
            <a:avLst/>
          </a:prstGeom>
          <a:solidFill>
            <a:srgbClr val="00555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Approach – Cypress &amp; Playwright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 |  The Bug Detective STFB | Accelerated Programme  |  saucedemo.com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Browser Coverage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8595360" cy="8229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Browsers Covered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JavaScript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Chrome · Firefox · Edge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github.com/ChiomaSarah/swag-labs-cypress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Playwright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JavaScript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Chromium · Firefox · WebKit (Safari)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github.com/ChiomaSarah/swag-labs-playwright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011680"/>
            <a:ext cx="8595360" cy="384048"/>
          </a:xfrm>
          <a:prstGeom prst="rect">
            <a:avLst/>
          </a:prstGeom>
          <a:solidFill>
            <a:srgbClr val="B2EBF2"/>
          </a:solidFill>
          <a:ln/>
        </p:spPr>
      </p:sp>
      <p:sp>
        <p:nvSpPr>
          <p:cNvPr id="8" name="Text 7"/>
          <p:cNvSpPr/>
          <p:nvPr/>
        </p:nvSpPr>
        <p:spPr>
          <a:xfrm>
            <a:off x="365760" y="203911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coverage: Chrome · Firefox · Edge · WebKit — more browsers than either tool covers alone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4320" y="25146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Non-Automatable Test Cases — marked test.skip with documented rationale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34640"/>
          <a:ext cx="8595360" cy="162763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5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TC-020C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 order unstable (visual_user)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Intermittent defect — automation too fast to reproduce consistently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5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TC-041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 timeout redirect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30+ min idle — impractical in automated runs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5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TC-043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Layout breaks on small screens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toBeVisible() can't detect visual misalignment — needs human eye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5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TC-044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 dropdown incomplete hit 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&lt;select&gt; element bypasses CSS hit-area defect at DOM level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274320" y="4521582"/>
            <a:ext cx="8595360" cy="228598"/>
          </a:xfrm>
          <a:prstGeom prst="rect">
            <a:avLst/>
          </a:prstGeom>
          <a:solidFill>
            <a:srgbClr val="FFF9C4"/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40611" y="446227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Intentional Failure Tests: BUG-001 to BUG-008 are written to FAIL — confirming defects still exist and serving as regression tests when fixes are applied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Summary &amp; Key Findings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 |  The Bug Detective STFB | Accelerated Programme  |  saucedemo.com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solidFill>
            <a:srgbClr val="E0F7FA"/>
          </a:solidFill>
          <a:ln w="3810">
            <a:solidFill>
              <a:srgbClr val="0083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77824"/>
            <a:ext cx="502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8412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standard_user – Fully Functional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1247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features worked correctly. Login, cart, checkout, navigation, and session all passed. Used as the baseline for all cross-account comparisons.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554480"/>
            <a:ext cx="8595360" cy="658368"/>
          </a:xfrm>
          <a:prstGeom prst="rect">
            <a:avLst/>
          </a:prstGeom>
          <a:solidFill>
            <a:srgbClr val="FFD7D7"/>
          </a:solidFill>
          <a:ln w="381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627632"/>
            <a:ext cx="502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15910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problem_user – 3 Critical, 2 High Defects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1874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images on all 6 cards, sort opens but has no effect, Last Name overwrites First Name in checkout. Cart limited to 3 specific items.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04288"/>
            <a:ext cx="8595360" cy="658368"/>
          </a:xfrm>
          <a:prstGeom prst="rect">
            <a:avLst/>
          </a:prstGeom>
          <a:solidFill>
            <a:srgbClr val="FCE4D6"/>
          </a:solidFill>
          <a:ln w="3810">
            <a:solidFill>
              <a:srgbClr val="0083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377440"/>
            <a:ext cx="502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6112" y="234086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error_user – 3 High Defects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26243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triggers an explicit browser alert. Last Name field unresponsive in checkout. Cart limited to 3 specific items (same as problem_user).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54096"/>
            <a:ext cx="8595360" cy="658368"/>
          </a:xfrm>
          <a:prstGeom prst="rect">
            <a:avLst/>
          </a:prstGeom>
          <a:solidFill>
            <a:srgbClr val="FFF9C4"/>
          </a:solidFill>
          <a:ln w="381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127248"/>
            <a:ext cx="502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6112" y="3090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visual_user – 1 High, 1 Medium Defect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33741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order is non-deterministic — results change each time the same option is selected. Layout breaks on smaller screen sizes.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803904"/>
            <a:ext cx="8595360" cy="658368"/>
          </a:xfrm>
          <a:prstGeom prst="rect">
            <a:avLst/>
          </a:prstGeom>
          <a:solidFill>
            <a:srgbClr val="B2EBF2"/>
          </a:solidFill>
          <a:ln w="3810">
            <a:solidFill>
              <a:srgbClr val="0083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877056"/>
            <a:ext cx="502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6112" y="3840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– Cypress + Playwright · 49 Tests Each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" y="412394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49 TCs automated in both tools across Chrome, Firefox, Edge, and WebKit. 4 non-automatable TCs marked test.skip with documented rationale.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5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2788920"/>
            <a:ext cx="640080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92608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1348</Words>
  <Application>Microsoft Office PowerPoint</Application>
  <PresentationFormat>On-screen Show (16:9)</PresentationFormat>
  <Paragraphs>325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Swag Labs – Manual &amp; Automated QA Testing</dc:title>
  <dc:subject>PptxGenJS Presentation</dc:subject>
  <dc:creator>Osuji Chioma Sarah</dc:creator>
  <cp:lastModifiedBy>Sarah Osuji</cp:lastModifiedBy>
  <cp:revision>5</cp:revision>
  <dcterms:created xsi:type="dcterms:W3CDTF">2026-07-12T20:09:15Z</dcterms:created>
  <dcterms:modified xsi:type="dcterms:W3CDTF">2026-07-13T09:13:26Z</dcterms:modified>
</cp:coreProperties>
</file>